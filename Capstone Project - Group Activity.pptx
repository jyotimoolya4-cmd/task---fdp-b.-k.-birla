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67" r:id="rId5"/>
    <p:sldId id="259" r:id="rId6"/>
    <p:sldId id="260" r:id="rId7"/>
    <p:sldId id="261" r:id="rId8"/>
    <p:sldId id="280" r:id="rId9"/>
    <p:sldId id="284" r:id="rId10"/>
    <p:sldId id="262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1" r:id="rId21"/>
    <p:sldId id="282" r:id="rId22"/>
    <p:sldId id="277" r:id="rId23"/>
    <p:sldId id="278" r:id="rId24"/>
    <p:sldId id="279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F5A21-2053-42D5-9614-97C20C62DF9C}" v="1" dt="2026-03-10T10:24:40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ita Chandorkar" userId="0a6b9fd9-2f54-41b6-8242-102f8160dfb0" providerId="ADAL" clId="{8C2C3D80-FC07-4C25-8A5D-03E1BB152169}"/>
    <pc:docChg chg="modSld">
      <pc:chgData name="Amrita Chandorkar" userId="0a6b9fd9-2f54-41b6-8242-102f8160dfb0" providerId="ADAL" clId="{8C2C3D80-FC07-4C25-8A5D-03E1BB152169}" dt="2026-03-10T10:48:26.582" v="14" actId="1035"/>
      <pc:docMkLst>
        <pc:docMk/>
      </pc:docMkLst>
      <pc:sldChg chg="modSp mod">
        <pc:chgData name="Amrita Chandorkar" userId="0a6b9fd9-2f54-41b6-8242-102f8160dfb0" providerId="ADAL" clId="{8C2C3D80-FC07-4C25-8A5D-03E1BB152169}" dt="2026-03-10T10:25:04.371" v="4" actId="2711"/>
        <pc:sldMkLst>
          <pc:docMk/>
          <pc:sldMk cId="1589946285" sldId="273"/>
        </pc:sldMkLst>
        <pc:graphicFrameChg chg="mod modGraphic">
          <ac:chgData name="Amrita Chandorkar" userId="0a6b9fd9-2f54-41b6-8242-102f8160dfb0" providerId="ADAL" clId="{8C2C3D80-FC07-4C25-8A5D-03E1BB152169}" dt="2026-03-10T10:25:04.371" v="4" actId="2711"/>
          <ac:graphicFrameMkLst>
            <pc:docMk/>
            <pc:sldMk cId="1589946285" sldId="273"/>
            <ac:graphicFrameMk id="4" creationId="{F7EDC92C-E8BC-BB7E-5E47-BB83C7085929}"/>
          </ac:graphicFrameMkLst>
        </pc:graphicFrameChg>
      </pc:sldChg>
      <pc:sldChg chg="modSp mod">
        <pc:chgData name="Amrita Chandorkar" userId="0a6b9fd9-2f54-41b6-8242-102f8160dfb0" providerId="ADAL" clId="{8C2C3D80-FC07-4C25-8A5D-03E1BB152169}" dt="2026-03-10T10:48:26.582" v="14" actId="1035"/>
        <pc:sldMkLst>
          <pc:docMk/>
          <pc:sldMk cId="676055685" sldId="284"/>
        </pc:sldMkLst>
        <pc:graphicFrameChg chg="mod modGraphic">
          <ac:chgData name="Amrita Chandorkar" userId="0a6b9fd9-2f54-41b6-8242-102f8160dfb0" providerId="ADAL" clId="{8C2C3D80-FC07-4C25-8A5D-03E1BB152169}" dt="2026-03-10T10:48:26.582" v="14" actId="1035"/>
          <ac:graphicFrameMkLst>
            <pc:docMk/>
            <pc:sldMk cId="676055685" sldId="284"/>
            <ac:graphicFrameMk id="4" creationId="{7DFC2FF1-A8D0-D52A-0A35-271A9A5994E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7A900-24A3-44D5-9012-6EEF2F6E5DE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FA52-363C-45DD-A450-7D32FEB26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8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06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ABBF-C34E-B424-1835-BF12C5CA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E8488-882B-46DF-ECC4-F36B0EDCE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D1F8D-57AF-AE3F-0515-BA04B072F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D5E5-8143-F270-D810-69B660E82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0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EAF6-8B49-3DCA-03C4-D1C703C0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3C0F5-BF03-F23A-FF54-61856BDD9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96E5F-B7EA-F080-7A7E-FA17AFD29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12D0A-EA47-0319-9B19-6EF9EF6E8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5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0586-FC9C-5DB6-7BBB-8D9E8D2B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FE1B3-7EC7-8593-8123-FB2E3F634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F1548-95C8-1FEF-C6E9-B93CDCDE0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5EF3E-09CA-5EC6-68B6-6302BCADC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4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0C60-82AA-A223-85F3-C6EF5FCA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EBF7A-1E2B-9632-9970-F55AA539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7542C-B9DA-EF9A-C393-246EB762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F8C71-D5B8-E3EC-1338-0A11B4BF0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617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B278-9943-480B-F569-AD7585CD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6E31-5D74-E6CD-0150-CD55D4C58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C201B-866B-062D-D593-A31509855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DA0E9-9CA1-9D70-B8DD-4CB4C272E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BDA4-DAF8-DC11-E772-052C39C6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0760-7445-5A06-B025-755F358BB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F5E95-9BD4-DDC3-0378-FFAED7BA2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F8403-D9EB-23C8-758E-B5D2E7D67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57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9153-3A7F-261D-F3E4-59D0B251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F3AEC-8B3D-DF4A-33ED-72E9264B2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F0DA8-6951-17F3-969D-1817CE07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1117-15A7-C471-1DE2-6B7063BE7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40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1338-836C-E1C7-0C23-64C1E909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1C9D8-75B3-DD27-82BD-22A8609B6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C13D-E0ED-B98D-1DA4-AAF402FA0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2F326-0B17-4647-8FBB-7764A7AD5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865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C05D-5A2F-679E-2EA7-8F727F5E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CB877-0366-50E4-E5C4-8018FDAE5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644F-3B74-F395-1E21-7FB2A0B07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AF782-3A05-103F-2B15-756C123AF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81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3F66-14D6-3FC3-06EA-334C131BC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3884E-D8BC-2068-9146-9FAB3A7BB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3A4AC-0132-D9A1-33D3-F10BC086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DA423-D51E-D935-1263-F91AF6C7C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29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4526-5FDB-05E2-E75E-84DAA8B3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B7C49-0413-83CA-97EB-8DAF18622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CD1FC-38C4-DCB2-3001-163CA058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4870B-CC3F-3BCC-D1BA-E93042FE8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26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E960-9720-F73F-66B2-DCA52B26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CDAEF-116A-1440-7ADD-02A17623E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4D3BF-8A6D-CE2B-3BF0-F58C3F7F3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D226-C31A-3E27-058F-203124AE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22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A9E4-1C95-0745-EF45-FCCB79E2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3AD82-5CAE-B9C3-AE74-7CB8585AC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D8A20-6409-07AF-2C0C-A42D73547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5628A-E922-0691-229B-C9B3EFB6F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270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218F-7F37-79DF-6E4E-F1DC7FDC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8C361-07E7-85D7-D791-FD1C0EB44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F6416-16AC-0E23-785B-8AC5EBE20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F42B6-799A-545B-A56B-10D83BE01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07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DC88-FC03-3B80-96CB-B290AE3A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6C4BD-C621-2C17-3202-48E4BDD04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1F863-702B-16B4-38C3-5139B8B3E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4771-133D-FBB8-D360-C62E5E97E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1FA52-363C-45DD-A450-7D32FEB26C0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9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4E75-B7D7-DA25-53A0-B4ADFA59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0EF0D-7569-2ED8-A88D-67E0F93DB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511B-39B0-4AF8-2156-B55EBEC3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66534-6815-EAB5-14CF-0C372BDF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668F-8C7D-77C7-5364-1BE496D8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4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46F9-8B9C-06C8-3F33-EA5BC113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7DBC-AD20-BD0F-E8EA-2AB492DF3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A708-56C8-C5F7-AB81-2DD6824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4BF6-D817-7A84-4EBB-B476817D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3765-25FF-6B99-676F-7D20577A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6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7392-FCC9-1332-9017-8FA097D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08BA-25A3-4FEC-3194-A741F4E3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046FA-CD99-4083-BC49-4FCF9147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8CEB-B891-F9DE-EFC2-C8F05A11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D6B33-E642-D6DF-0018-4297BE6A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0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8BD6-3B71-6A11-CF5A-22402D2B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2231-1D1F-9015-1B23-EF9DAE04F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940FB-B1BD-2B06-140F-BAED96E60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D5CB3-C97C-833D-3E07-8E21BA3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CDD50-A98D-E7A4-316D-B599D05F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4322C-EA02-71D6-54C3-69BBBBC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1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8BA7-1A97-4ED7-69B5-1E3CC5D1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D1432-7E6F-CF6F-A34A-628FF8363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F010C-253F-76EA-4D6B-066712262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CE6AE-CCC2-8EFC-2A2C-1A42B99DB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DD8DC-BF27-8492-40F4-60E72846C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C9DB0-6C11-E9CC-4A72-301C1BF9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739C0-28DC-4213-3A47-DF43D827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2971B-9D90-B0EF-6CFB-FDEACB1D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2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7B57-8A60-3FCB-F160-95A9D5A1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AAB31-673E-5A5F-8EE6-B40639B8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F754E-E1A7-39B5-AFDC-B6D67DF4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9135F-45AA-7C14-DA02-34A3AAE7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7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8067D-6BE6-2006-EBDB-BB59F34D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2D42E-CC23-C40F-A494-501C289C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7613F-B457-7373-79CE-AE36DD81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2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6C65-83A5-2067-F035-34870951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571B-77F3-A551-18A8-AF2AB2C56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7072F-B767-456A-FBF4-00B34E338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9EFD0-3978-1369-5A44-2BB077F7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49A01-F373-139B-DBC4-160D7E04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D0549-3B2C-A97E-2CE1-B4E5BC7B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47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258D-30F3-D4F2-9572-B80CB488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22F4E-C7D6-CC39-0BD4-A12BE6F9A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61787-82F6-92EB-475A-E4F9A5CFD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0CB6-D9B6-5C9B-8F76-329F24B3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6EB2E-E9A8-CD93-9953-3EC6065A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8A1FA-6E3C-0E89-E50B-43652827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85F2-ADB0-3FE5-D745-6757D7B5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EBE1F-FF0E-D6E0-EA7B-B96681B97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6D74-A3DC-CC42-4707-4F2BF646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5FAED-8694-E7F5-C5F5-9C21940C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2245-3FA5-7581-26B7-10B2D7A7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00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0E5B3-AF1E-D60D-4C1A-89351171E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D2BFA-F4A9-1651-2276-FE6A4A29C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4285-CCF8-5F83-6941-C9CB912F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E012-4B24-5A26-1356-FF327C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D347-1BDB-112A-F7DB-6F0C4662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9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3C547-042F-17AD-A751-40DAFA8F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FBADF-5E51-531B-CAA2-6ACC05506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4E99-8B59-BA46-C650-B18CBE779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6543A-7FA2-4C03-AF48-B356B6C039B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BC65-06DF-9A01-EFD3-9A95095BA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B3D4-88C7-9094-5AF4-C3DA16448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AF3BC-7E8A-4DF6-BE2D-BB28E20F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56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kbirlaschoolkalyan-my.sharepoint.com/:w:/g/personal/amrita_chandorkar_birlaschoolkalyan_com/IQAfRHkB8B_qT763mFuBUd3JAbS2MEQ9s2FkrAadgx0PJWY?e=CsXJF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F2202-2C89-76D9-F07C-7D7F93BC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9" b="1500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A92649-197F-130E-545C-E1BBE8B2CE90}"/>
              </a:ext>
            </a:extLst>
          </p:cNvPr>
          <p:cNvSpPr/>
          <p:nvPr/>
        </p:nvSpPr>
        <p:spPr>
          <a:xfrm>
            <a:off x="0" y="5858019"/>
            <a:ext cx="51094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Team: Designers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049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5806E-E66D-154E-33AC-9B3663A09262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524F8-CF26-C8EF-6657-EE97E15C7C2F}"/>
              </a:ext>
            </a:extLst>
          </p:cNvPr>
          <p:cNvSpPr/>
          <p:nvPr/>
        </p:nvSpPr>
        <p:spPr>
          <a:xfrm>
            <a:off x="1508987" y="191746"/>
            <a:ext cx="89970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Lack of Reading Habit Among Students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A81CF-FDDC-6D5F-3D2A-387D7A39E4AF}"/>
              </a:ext>
            </a:extLst>
          </p:cNvPr>
          <p:cNvSpPr txBox="1"/>
          <p:nvPr/>
        </p:nvSpPr>
        <p:spPr>
          <a:xfrm>
            <a:off x="78658" y="1073227"/>
            <a:ext cx="1196585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In today’s world, children are increasingly spending more time on digital devices and less time reading books. This has led to a decline in reading habits affecting: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Language development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Concentration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Imagination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Vocabulary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	Overall learning ability.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Therefore, there is a need to explore effective ways to encourage and develop regular reading habits among children so that they can improve their knowledge, creativity and academic performance.</a:t>
            </a:r>
          </a:p>
        </p:txBody>
      </p:sp>
      <p:pic>
        <p:nvPicPr>
          <p:cNvPr id="10" name="Graphic 9" descr="Sad face with solid fill with solid fill">
            <a:extLst>
              <a:ext uri="{FF2B5EF4-FFF2-40B4-BE49-F238E27FC236}">
                <a16:creationId xmlns:a16="http://schemas.microsoft.com/office/drawing/2014/main" id="{F47AD705-8768-33A9-6586-4324553D6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14" y="2425640"/>
            <a:ext cx="508816" cy="508816"/>
          </a:xfrm>
          <a:prstGeom prst="rect">
            <a:avLst/>
          </a:prstGeom>
        </p:spPr>
      </p:pic>
      <p:pic>
        <p:nvPicPr>
          <p:cNvPr id="16" name="Graphic 15" descr="Sad face with solid fill with solid fill">
            <a:extLst>
              <a:ext uri="{FF2B5EF4-FFF2-40B4-BE49-F238E27FC236}">
                <a16:creationId xmlns:a16="http://schemas.microsoft.com/office/drawing/2014/main" id="{A5B010CF-D11A-BA2D-32DC-3C71EBA47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14" y="3110963"/>
            <a:ext cx="508816" cy="508816"/>
          </a:xfrm>
          <a:prstGeom prst="rect">
            <a:avLst/>
          </a:prstGeom>
        </p:spPr>
      </p:pic>
      <p:pic>
        <p:nvPicPr>
          <p:cNvPr id="17" name="Graphic 16" descr="Sad face with solid fill with solid fill">
            <a:extLst>
              <a:ext uri="{FF2B5EF4-FFF2-40B4-BE49-F238E27FC236}">
                <a16:creationId xmlns:a16="http://schemas.microsoft.com/office/drawing/2014/main" id="{57D9FDBD-BF52-FE79-38D3-28CF4F3FE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418" y="3747037"/>
            <a:ext cx="508816" cy="508816"/>
          </a:xfrm>
          <a:prstGeom prst="rect">
            <a:avLst/>
          </a:prstGeom>
        </p:spPr>
      </p:pic>
      <p:pic>
        <p:nvPicPr>
          <p:cNvPr id="18" name="Graphic 17" descr="Sad face with solid fill with solid fill">
            <a:extLst>
              <a:ext uri="{FF2B5EF4-FFF2-40B4-BE49-F238E27FC236}">
                <a16:creationId xmlns:a16="http://schemas.microsoft.com/office/drawing/2014/main" id="{4A7F2F52-E2F9-1CCA-A8E4-D4559CE8A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483" y="4432360"/>
            <a:ext cx="508816" cy="508816"/>
          </a:xfrm>
          <a:prstGeom prst="rect">
            <a:avLst/>
          </a:prstGeom>
        </p:spPr>
      </p:pic>
      <p:pic>
        <p:nvPicPr>
          <p:cNvPr id="19" name="Graphic 18" descr="Sad face with solid fill with solid fill">
            <a:extLst>
              <a:ext uri="{FF2B5EF4-FFF2-40B4-BE49-F238E27FC236}">
                <a16:creationId xmlns:a16="http://schemas.microsoft.com/office/drawing/2014/main" id="{F18D071E-AA78-779A-489D-D93D22D9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418" y="5081297"/>
            <a:ext cx="508816" cy="5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5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93487D-CA58-2870-DCF7-7C21DF581CB6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Problem Description</a:t>
            </a:r>
            <a:endParaRPr lang="en-IN" sz="4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716D1-0ED6-7F43-9551-9D904BB61869}"/>
              </a:ext>
            </a:extLst>
          </p:cNvPr>
          <p:cNvSpPr/>
          <p:nvPr/>
        </p:nvSpPr>
        <p:spPr>
          <a:xfrm>
            <a:off x="186813" y="1297859"/>
            <a:ext cx="11818374" cy="53782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address the declining reading habits among students caused by increased screen 	time and digital distractions.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Many students prefer spending their free time on mobile phones, television or social 	media rather than reading books.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Lack of access to engaging reading spaces and interesting books reduces students’ 	motivation to read.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a result, students show limited vocabulary development, weaker comprehension 	skills and reduced creativity.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raphic 16" descr="Sad face with solid fill with solid fill">
            <a:extLst>
              <a:ext uri="{FF2B5EF4-FFF2-40B4-BE49-F238E27FC236}">
                <a16:creationId xmlns:a16="http://schemas.microsoft.com/office/drawing/2014/main" id="{12A0C6E3-FADB-C8A5-B3B9-FD7E0A33B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542" y="1386347"/>
            <a:ext cx="712839" cy="712839"/>
          </a:xfrm>
          <a:prstGeom prst="rect">
            <a:avLst/>
          </a:prstGeom>
        </p:spPr>
      </p:pic>
      <p:pic>
        <p:nvPicPr>
          <p:cNvPr id="18" name="Graphic 17" descr="Sad face with solid fill with solid fill">
            <a:extLst>
              <a:ext uri="{FF2B5EF4-FFF2-40B4-BE49-F238E27FC236}">
                <a16:creationId xmlns:a16="http://schemas.microsoft.com/office/drawing/2014/main" id="{BAFB13DE-9311-975A-55F4-4695EA8AE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52" y="2479637"/>
            <a:ext cx="712839" cy="712839"/>
          </a:xfrm>
          <a:prstGeom prst="rect">
            <a:avLst/>
          </a:prstGeom>
        </p:spPr>
      </p:pic>
      <p:pic>
        <p:nvPicPr>
          <p:cNvPr id="19" name="Graphic 18" descr="Sad face with solid fill with solid fill">
            <a:extLst>
              <a:ext uri="{FF2B5EF4-FFF2-40B4-BE49-F238E27FC236}">
                <a16:creationId xmlns:a16="http://schemas.microsoft.com/office/drawing/2014/main" id="{E13B6302-739D-5973-FAFB-9B198F03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53" y="3572928"/>
            <a:ext cx="712839" cy="712839"/>
          </a:xfrm>
          <a:prstGeom prst="rect">
            <a:avLst/>
          </a:prstGeom>
        </p:spPr>
      </p:pic>
      <p:pic>
        <p:nvPicPr>
          <p:cNvPr id="20" name="Graphic 19" descr="Sad face with solid fill with solid fill">
            <a:extLst>
              <a:ext uri="{FF2B5EF4-FFF2-40B4-BE49-F238E27FC236}">
                <a16:creationId xmlns:a16="http://schemas.microsoft.com/office/drawing/2014/main" id="{B6277D3C-0E58-8B07-90F7-82E3FD3FE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542" y="4614599"/>
            <a:ext cx="712839" cy="71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7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0F3C-13E4-2ACE-4CB3-87F1AEE2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03634-3610-69CD-71CB-678FF21651E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Requirements and Specifications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7E5D3-6F15-CCF6-6423-BAC1A65C3DBA}"/>
              </a:ext>
            </a:extLst>
          </p:cNvPr>
          <p:cNvSpPr txBox="1"/>
          <p:nvPr/>
        </p:nvSpPr>
        <p:spPr>
          <a:xfrm>
            <a:off x="127819" y="1455173"/>
            <a:ext cx="5171768" cy="341632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students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 and Grade 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/ Questionnaire: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completed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parents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borrowing and reading habits/types of books read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90A06-CA02-9A58-731D-90DCBFBA91A1}"/>
              </a:ext>
            </a:extLst>
          </p:cNvPr>
          <p:cNvSpPr txBox="1"/>
          <p:nvPr/>
        </p:nvSpPr>
        <p:spPr>
          <a:xfrm>
            <a:off x="5771535" y="1376515"/>
            <a:ext cx="6292646" cy="452431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Devices and Books for Reading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strategies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reading engaging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 Chart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student progress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Rewards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Month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Year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Corner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different areas of the school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Spark Activities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short, fun reading activities to spark interest</a:t>
            </a:r>
          </a:p>
        </p:txBody>
      </p:sp>
    </p:spTree>
    <p:extLst>
      <p:ext uri="{BB962C8B-B14F-4D97-AF65-F5344CB8AC3E}">
        <p14:creationId xmlns:p14="http://schemas.microsoft.com/office/powerpoint/2010/main" val="137837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B6F1C-3B5F-7D82-0CE3-CB4C583C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1EAA7-88CE-0EF6-9BFB-8FE09B2101C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Solution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B482B-0D4E-42DD-2518-EF6867FFE999}"/>
              </a:ext>
            </a:extLst>
          </p:cNvPr>
          <p:cNvSpPr txBox="1"/>
          <p:nvPr/>
        </p:nvSpPr>
        <p:spPr>
          <a:xfrm>
            <a:off x="137651" y="1199534"/>
            <a:ext cx="118675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Gamified Reading Program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Introduce reading challenges, badges, and points to motivate students.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Corners in School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comfortable reading spaces with attractive and age-appropriate books.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 a tracker chart to monitor the number of books read by students.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Reading Activities (Reading Spark Sessions)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Storytelling, book talks, and peer reading sessions to make reading enjoyable.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Digital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Encourage reading through e-books, audiobooks, and educational reading apps.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Rewards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Introduce titles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Month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of the 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14DCD-5F42-B8A4-D734-1F66A02F5DAF}"/>
              </a:ext>
            </a:extLst>
          </p:cNvPr>
          <p:cNvSpPr txBox="1"/>
          <p:nvPr/>
        </p:nvSpPr>
        <p:spPr>
          <a:xfrm>
            <a:off x="334297" y="3503022"/>
            <a:ext cx="112087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xpected Outcomes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interest and participation in reading activities.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and comprehension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and imagination among 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reading habits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performance and communication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culture within the school environment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27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8B7A-DEB4-C812-FA73-B11333A1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4" y="478972"/>
            <a:ext cx="9993086" cy="402772"/>
          </a:xfrm>
        </p:spPr>
        <p:txBody>
          <a:bodyPr>
            <a:normAutofit fontScale="90000"/>
          </a:bodyPr>
          <a:lstStyle/>
          <a:p>
            <a:r>
              <a:rPr lang="en-US" dirty="0"/>
              <a:t>AI Tools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FC2FF1-A8D0-D52A-0A35-271A9A599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081842"/>
              </p:ext>
            </p:extLst>
          </p:nvPr>
        </p:nvGraphicFramePr>
        <p:xfrm>
          <a:off x="424544" y="956351"/>
          <a:ext cx="11321142" cy="5673049"/>
        </p:xfrm>
        <a:graphic>
          <a:graphicData uri="http://schemas.openxmlformats.org/drawingml/2006/table">
            <a:tbl>
              <a:tblPr/>
              <a:tblGrid>
                <a:gridCol w="3773714">
                  <a:extLst>
                    <a:ext uri="{9D8B030D-6E8A-4147-A177-3AD203B41FA5}">
                      <a16:colId xmlns:a16="http://schemas.microsoft.com/office/drawing/2014/main" val="203044926"/>
                    </a:ext>
                  </a:extLst>
                </a:gridCol>
                <a:gridCol w="3773714">
                  <a:extLst>
                    <a:ext uri="{9D8B030D-6E8A-4147-A177-3AD203B41FA5}">
                      <a16:colId xmlns:a16="http://schemas.microsoft.com/office/drawing/2014/main" val="3169880251"/>
                    </a:ext>
                  </a:extLst>
                </a:gridCol>
                <a:gridCol w="3773714">
                  <a:extLst>
                    <a:ext uri="{9D8B030D-6E8A-4147-A177-3AD203B41FA5}">
                      <a16:colId xmlns:a16="http://schemas.microsoft.com/office/drawing/2014/main" val="559225572"/>
                    </a:ext>
                  </a:extLst>
                </a:gridCol>
              </a:tblGrid>
              <a:tr h="328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Reading Initiative</a:t>
                      </a:r>
                      <a:endParaRPr lang="en-IN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Suggested AI / Digital Tools</a:t>
                      </a:r>
                      <a:endParaRPr lang="en-IN" sz="1600" dirty="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Purpose / Use</a:t>
                      </a:r>
                      <a:endParaRPr lang="en-IN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257944"/>
                  </a:ext>
                </a:extLst>
              </a:tr>
              <a:tr h="8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Gamified Reading Program</a:t>
                      </a:r>
                      <a:r>
                        <a:rPr lang="en-US" sz="1600"/>
                        <a:t> (reading challenges, badges, points)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ClassDojo, Kahoot!, </a:t>
                      </a:r>
                      <a:r>
                        <a:rPr lang="en-IN" sz="1600" dirty="0" err="1"/>
                        <a:t>Blooket</a:t>
                      </a:r>
                      <a:endParaRPr lang="en-IN" sz="1600" dirty="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Create reading challenges, quizzes, reward points, and badges to motivate students.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762959"/>
                  </a:ext>
                </a:extLst>
              </a:tr>
              <a:tr h="967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Reading Corners in School</a:t>
                      </a:r>
                      <a:endParaRPr lang="en-IN" sz="1600" dirty="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Canva, ChatGPT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Design posters, book recommendation charts, and generate book summaries or discussion questions.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333461"/>
                  </a:ext>
                </a:extLst>
              </a:tr>
              <a:tr h="8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Reading Tracker System</a:t>
                      </a:r>
                      <a:endParaRPr lang="en-IN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Google Sheets, Notion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Maintain a digital reading log to track books read, reading progress, and participation.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44569"/>
                  </a:ext>
                </a:extLst>
              </a:tr>
              <a:tr h="967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Monthly Reading Activities (Reading Spark Sessions)</a:t>
                      </a:r>
                      <a:endParaRPr lang="en-US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Padlet, </a:t>
                      </a:r>
                      <a:r>
                        <a:rPr lang="en-IN" sz="1600" dirty="0" err="1"/>
                        <a:t>Mentimeter</a:t>
                      </a:r>
                      <a:endParaRPr lang="en-IN" sz="1600" dirty="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Students share book reviews, reflections, storytelling, and participate in interactive reading discussions.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131473"/>
                  </a:ext>
                </a:extLst>
              </a:tr>
              <a:tr h="8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Use of Digital Reading Tools</a:t>
                      </a:r>
                      <a:endParaRPr lang="en-US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Epic!, Audible, </a:t>
                      </a:r>
                      <a:r>
                        <a:rPr lang="en-IN" sz="1600" dirty="0" err="1"/>
                        <a:t>StoryWeaver</a:t>
                      </a:r>
                      <a:endParaRPr lang="en-IN" sz="1600" dirty="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Provide access to e-books, audiobooks, and multilingual storybooks to encourage reading.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971376"/>
                  </a:ext>
                </a:extLst>
              </a:tr>
              <a:tr h="8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Recognition and Rewards</a:t>
                      </a:r>
                      <a:endParaRPr lang="en-IN" sz="16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Canva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Create digital certificates, leaderboards, and announce “Reader of the Month/Year.”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314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05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0911-5F54-8BBF-9302-D0898BF6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BE73B0-D1B4-5F01-F0CA-876320D333E7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I- Scope-Boundary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C2D4DA-D9D1-2B93-F30C-3E629FFD9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09451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Stage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Tool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Outcome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Metrics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Stage-1 Brainstorming 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Group discussion/ Survey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Challenges: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attention span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Devices used for gaming, chatting, etc.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motivation to enhance interests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Non appealing nature of books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any time accessibility to the library.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Lack of exchange of ideas about the books read to promote reading.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Social environment is changing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Increase the reading habit among children by 10% 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Improvement in vocabulary and comprehension.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Students actively discussing books with peers.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800" kern="100" dirty="0">
                          <a:effectLst/>
                        </a:rPr>
                        <a:t>A positive reading culture developed in the classroom.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The problem is restated well with insights and outputs are presented thoughtfully.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566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1ED1-EB2D-3242-063D-C8D4DC5C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08B26A-7FE4-26E5-A4E0-B49A7EC5DFC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Phase-I (Scope-Boundary)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D4ABC-00D5-E356-B5DF-5CAD5098F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365585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Tool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Metrics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Stage-2 Idea Posting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Graphical representation of the survey conducted.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Font typeface="Symbol" panose="05050102010706020507" pitchFamily="18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Abstract: Data Collected from the Library.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  <p:pic>
        <p:nvPicPr>
          <p:cNvPr id="5" name="drawing">
            <a:extLst>
              <a:ext uri="{FF2B5EF4-FFF2-40B4-BE49-F238E27FC236}">
                <a16:creationId xmlns:a16="http://schemas.microsoft.com/office/drawing/2014/main" id="{7AF60221-F29F-8A95-E678-7EA0D6DAE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05" y="2399913"/>
            <a:ext cx="8718953" cy="434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2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9713-D124-B61A-106C-74F81C6A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B6A3A-BD12-214D-65DE-FF1680DC5CCD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II Empathize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B74B06-BEA3-52DB-8B0D-F3F75DE97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76846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Stage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Tool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Outcome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Metrics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Stage-III Customer Mapping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1.Peer Interview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2.Group discussion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Survey/ Questionnaire- For students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4.Survey/ Questionnaire- For parents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 Interview of Librarian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Font typeface="Symbol" panose="05050102010706020507" pitchFamily="18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 specification from customer specification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248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0714-6AE8-F74E-4A93-C14F1D16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2A3F76-7DFF-6C0C-85A8-D6A6569766D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III Define (Insight)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FAC791-8C88-0A76-F6C2-35A8A472F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20446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Stage-IV Idea Layout: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analysed problem is mapped with solutions with indicated result outcomes.</a:t>
                      </a:r>
                      <a:endParaRPr lang="en-IN" sz="17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Project Chart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 overview of the solution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 </a:t>
                      </a:r>
                      <a:r>
                        <a:rPr lang="en-US" sz="1700" kern="100" dirty="0">
                          <a:effectLst/>
                        </a:rPr>
                        <a:t>Solutions are practical, realistic, and directly address the identified problems.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 dirty="0">
                          <a:effectLst/>
                        </a:rPr>
                        <a:t>Information is clearly </a:t>
                      </a:r>
                      <a:r>
                        <a:rPr lang="en-US" sz="1700" kern="100" dirty="0" err="1">
                          <a:effectLst/>
                        </a:rPr>
                        <a:t>organised</a:t>
                      </a:r>
                      <a:r>
                        <a:rPr lang="en-US" sz="1700" kern="100" dirty="0">
                          <a:effectLst/>
                        </a:rPr>
                        <a:t> in a neat problem–solution format.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7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  <p:pic>
        <p:nvPicPr>
          <p:cNvPr id="3" name="drawing">
            <a:extLst>
              <a:ext uri="{FF2B5EF4-FFF2-40B4-BE49-F238E27FC236}">
                <a16:creationId xmlns:a16="http://schemas.microsoft.com/office/drawing/2014/main" id="{DDFE1332-52FA-43EF-1D43-7F26A6DC2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46038"/>
            <a:ext cx="8998317" cy="2524674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4D6F3079-0A46-DDF0-F98B-F0F9BC84F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70712"/>
            <a:ext cx="8998317" cy="267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7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0EEF-7E51-BE49-ECC5-8DD88277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DB4BA4-0790-F878-C732-C5C55DE5B83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5D0E2D-AD48-33F1-80ED-4A16D7D6B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181953"/>
              </p:ext>
            </p:extLst>
          </p:nvPr>
        </p:nvGraphicFramePr>
        <p:xfrm>
          <a:off x="1" y="1091380"/>
          <a:ext cx="12191999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Stage-V Reflection: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SCAMPER Technique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Modify existing reading strategies (e.g., combine audio + text, adapt reading into games).</a:t>
                      </a: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(student attention checklist, reading focus tracker),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reading trackers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are implemented to improve students’ attention span and engagement with texts.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GAPS FIXING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identified strategies after checklist are: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Distraction-free reading corner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Reading timer and focus tracker.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discussion after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r>
                        <a:rPr lang="en-US" sz="1700" kern="100" dirty="0">
                          <a:effectLst/>
                        </a:rPr>
                        <a:t>Innovative modification of reading strategies (e.g., audio + text, game-based reading) clearly applied.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 dirty="0">
                          <a:effectLst/>
                        </a:rPr>
                        <a:t>Checklist is well-designed and regularly used to track student attention during reading sessions.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 dirty="0">
                          <a:effectLst/>
                        </a:rPr>
                        <a:t>Reading focus tracker clearly records duration, engagement, and improvement in attention.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7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 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69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A2FA-6F0E-D35E-7162-E061D5B7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011CC-0B91-F4B8-786F-D7ACDC96FD9F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C61C1C-2B91-B69A-E408-DE5A07D4E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06842"/>
              </p:ext>
            </p:extLst>
          </p:nvPr>
        </p:nvGraphicFramePr>
        <p:xfrm>
          <a:off x="1" y="1091380"/>
          <a:ext cx="12104914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98282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291672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12749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02211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 – Design of Modules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Attention Improvement Reading Model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Conceptual design –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Component level – Reading timer, engaging short texts, reading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System / block level – Reading Corner + Focused Reading Activity + Reflection discussion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Interfaces &amp; standards – Student participation guidelines and distraction-free reading environment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Block Diagram / Concept Model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showing the process of improving students’ attention span during reading.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practice focused reading for short durations.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Gradual improvement in concentration and engagement with texts.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Duration students remain focused while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Number of students participating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Improvement in comprehension responses after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062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B540-91E9-A2A4-E3B3-DCD53BA2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CD9915-7173-7F59-DC12-BD1707E549F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EDC92C-E8BC-BB7E-5E47-BB83C7085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35619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VII – Resources Identification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Requirements Specification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Reading Corner space in the classroom or library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Short engaging reading materials (story books, magazines, short articles)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Reading timer or focus timer (10–15 minute sessions)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Reading tracker / log sheet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Sticky notes for reflections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Student feedback forms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Posters encouraging focused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Book exchange register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Teacher facilitation and monitoring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Resources for Implementation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Materials: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Books, magazines, reading charts, timers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Reading tracker, feedback forms, reflection sheets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Classroom reading corner and peer discussion sessions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Structured environment that helps students improve their attention span while reading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Reading corner is well organized, attractive, and easily accessible to students.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Wide variety of engaging materials such as storybooks, magazines, and articles are available.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Reading timer is consistently used to conduct structured reading sessions (10–15 minutes).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46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13C9-F7D6-F0E2-66F3-35146732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E6F8C-166A-DE01-0FF6-BB1B027AFBAA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DD8154-79A8-B4A3-EBD0-ABFC9EBAB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001176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Outcome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VIII– Planning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Execution Schedule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1 – Conduct survey on students’ attention span during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2 – Set up a distraction-free reading corner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3 – Introduce short focused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4 – Use reading tracker and reflection notes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Week 5 – Collect feedback and analyse improvement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Risk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may lose interest quickly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Limited reading resources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Constraints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Limited time during school hours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Different reading levels among students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Assumptions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will participate in reading activities</a:t>
                      </a:r>
                      <a:b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Teachers will support monitoring and guidance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22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F6E8-D3CF-C89B-B289-91A68C02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ED052-B8E6-843C-31FD-69F061391306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IV Ideate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0A4DB-40A9-D2BC-807B-6519BA978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572217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IX– Re-Design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Checklist against Requirement Specifications from Student Feedback Mapping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Review reading session duration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Check student engagement levels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Analyse feedback from reading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Identify distractions affecting attention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Reading Strategy is included and updated in the reading programme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Shorter reading sessions (10–15 minutes)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Interactive discussion after reading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 of engaging and age-appropriate reading material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Better arrangement of the reading corner to minimise distractions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Reading duration is regularly recorded and clearly analysed to understand attention patterns.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Student feedback is collected, </a:t>
                      </a:r>
                      <a:r>
                        <a:rPr lang="en-US" sz="18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analysed</a:t>
                      </a: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, and used to improve reading activities.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Distractions are clearly identified and practical solutions are suggested.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01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7E19-33E9-F8D7-DE84-3E7097DC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E765F6-FCA2-80E8-9ACC-D7D99EF35548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31167A-9A45-930B-6A0D-94A9DCAAB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921867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Stage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Outcome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X– Execution Framework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Focused Modules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System – Reading Attention Improvement Model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Reading Activity Dashboard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Reading session duration tracker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Student participation status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Number of books/articles read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▪ Focus improvement observation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Structured Reading Activity Plan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(short focused reading sessions)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Requirements for the Focused Modules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Implementation of: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Reading corner for distraction-free environment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Short timed reading sessions (10–15 minutes)</a:t>
                      </a:r>
                      <a:br>
                        <a:rPr lang="en-IN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• Reading tracker / reflection sheets 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* Alignment of activities with reading objectives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Clarity and usability of the micromodule design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Evidence of improvement in simulated engagement data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20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C24C-B33C-9F49-34DF-4925B11D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EA969C-35AF-B54B-9DEE-2097D8E3F9F9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E0499-C875-65D6-E81F-4595EF67E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08192"/>
              </p:ext>
            </p:extLst>
          </p:nvPr>
        </p:nvGraphicFramePr>
        <p:xfrm>
          <a:off x="-983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XI-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Micromodule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a mind map to organise the reading strategy micromodule content.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Identify key reading skills (skimming, scanning, vocabulary inference)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Structure the micromodule into short learning segments (10–15 minutes)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Map activities like guided reading, discussion and reflection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Connect reading goals with student engagement strategies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Prototype of the reading strategy micromodule is created and tested using simulated classroom data.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Sample student responses collected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Engagement levels estimated through simulated scenarios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Effectiveness of short reading sessions analysed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Feedback used to refine the micromodule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Clear and well-organized model explaining how the reading improvement system works.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Reading time is accurately tracked and well presented.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18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9021-1671-A8E8-EFC3-2E1B065D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7E71D-36F0-64BB-8195-E8A5A215CE1E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159AC-07E8-0025-C7BB-FAACF2B0E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447689"/>
              </p:ext>
            </p:extLst>
          </p:nvPr>
        </p:nvGraphicFramePr>
        <p:xfrm>
          <a:off x="-983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XII -Execution Process flow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Flowchart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Identify the sequence of activities in the reading programme implementation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 steps such as reading session planning, activity execution and reflection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Map teacher and student roles during the reading session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Outline the process for recording engagement and participation data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Visualization of the implementation process.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Representation of reading session workflow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Graphs or charts showing student participation and engagement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Visual comparison of reading duration and attention levels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Identification of stages where improvement is required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Clarity of the process flow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Logical sequencing of steps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of data representation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Ease of interpretation of the visual data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871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3658-A3BF-FCD0-A2C6-5ECD84C8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8CC7F3-0B2C-0756-8801-3DF54776E43C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 Validate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4A0117-94FF-D005-B1AD-3C5A45440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56531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XIII Testing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Mapping* Map the overall reading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programme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system* Map teacher guidance and classroom management processes* Track student reading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and participation* Identify patterns in engagement and comprehension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Improved student focus during reading sessions* Increased participation in post-reading discussions* Better comprehension and vocabulary development* Reduced distractions during reading time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Improvement in student engagement levels* Feedback from students and teachers* Observed changes in reading habits* Consistency of results during trial sessions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945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CEEA-636C-34D2-C009-76BCA5D1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0A399D-B6C1-E67A-F2E0-073C68A720C3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VII Implementation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A8B93-E5F1-8B19-94DA-A7914081D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40704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XIV Implement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Implementation Summary &amp; Inference Report*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Summarise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the reading strategy implementation process* Document observations from classroom application* Compile teacher reflections and student feedback* Identify best practices for future improvement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Cost Estimate Details and Benefits of the reading programme.* Time and resource requirements for implementation* Benefits in terms of improved reading engagement* Development of better comprehension and vocabulary skills* Long-term improvement in students’ reading habits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Evidence of improved reading outcomes* Teacher and student satisfaction* Feasibility of continuing the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programme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 Sustainability and scalability of the strategy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396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F558-921C-2218-0744-70A97982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DCCE2-E6B6-524B-9C41-9EBD23365690}"/>
              </a:ext>
            </a:extLst>
          </p:cNvPr>
          <p:cNvSpPr/>
          <p:nvPr/>
        </p:nvSpPr>
        <p:spPr>
          <a:xfrm>
            <a:off x="0" y="-1"/>
            <a:ext cx="12192000" cy="109138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Phase VIII Report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01B74C-3D82-8BAA-9722-B40AFFDA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16744"/>
              </p:ext>
            </p:extLst>
          </p:nvPr>
        </p:nvGraphicFramePr>
        <p:xfrm>
          <a:off x="1" y="1091380"/>
          <a:ext cx="12289535" cy="696573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186461626"/>
                    </a:ext>
                  </a:extLst>
                </a:gridCol>
                <a:gridCol w="3341876">
                  <a:extLst>
                    <a:ext uri="{9D8B030D-6E8A-4147-A177-3AD203B41FA5}">
                      <a16:colId xmlns:a16="http://schemas.microsoft.com/office/drawing/2014/main" val="2452135466"/>
                    </a:ext>
                  </a:extLst>
                </a:gridCol>
                <a:gridCol w="2754123">
                  <a:extLst>
                    <a:ext uri="{9D8B030D-6E8A-4147-A177-3AD203B41FA5}">
                      <a16:colId xmlns:a16="http://schemas.microsoft.com/office/drawing/2014/main" val="2323808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3059948"/>
                    </a:ext>
                  </a:extLst>
                </a:gridCol>
              </a:tblGrid>
              <a:tr h="3142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Stage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Tool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>
                          <a:effectLst/>
                        </a:rPr>
                        <a:t>Outcome</a:t>
                      </a:r>
                      <a:endParaRPr lang="en-IN" sz="17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700" kern="100" dirty="0">
                          <a:effectLst/>
                        </a:rPr>
                        <a:t>Metrics</a:t>
                      </a:r>
                      <a:endParaRPr lang="en-IN" sz="17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60164"/>
                  </a:ext>
                </a:extLst>
              </a:tr>
              <a:tr h="66514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 XV Retrospective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https://bkbirlaschoolkalyan-my.sharepoint.com/:w:/g/personal/amrita_chandorkar_birlaschoolkalyan_com/IQAfRHkB8B_qT763mFuBUd3JAbS2MEQ9s2FkrAadgx0PJWY?e=CsXJFF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3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507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08A9C-45CD-4C9E-BC55-8DF8CFDA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5FEE0-D5AC-B7D2-631D-20F34B7C1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1726FC82D1AD4EBEFFC60FB9193DC2" ma:contentTypeVersion="39" ma:contentTypeDescription="Create a new document." ma:contentTypeScope="" ma:versionID="515f48b7fb4023b4c4eacdb86b318f02">
  <xsd:schema xmlns:xsd="http://www.w3.org/2001/XMLSchema" xmlns:xs="http://www.w3.org/2001/XMLSchema" xmlns:p="http://schemas.microsoft.com/office/2006/metadata/properties" xmlns:ns3="afeb4e6e-779d-466e-aa76-a28d9a9198ea" xmlns:ns4="0a856b5e-443d-4f0c-8996-56e9f4b8e7c5" targetNamespace="http://schemas.microsoft.com/office/2006/metadata/properties" ma:root="true" ma:fieldsID="8674f1660d68a7586d6f51e41cf0c810" ns3:_="" ns4:_="">
    <xsd:import namespace="afeb4e6e-779d-466e-aa76-a28d9a9198ea"/>
    <xsd:import namespace="0a856b5e-443d-4f0c-8996-56e9f4b8e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Distribution_Groups" minOccurs="0"/>
                <xsd:element ref="ns3:LMS_Mappings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b4e6e-779d-466e-aa76-a28d9a9198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CultureName" ma:index="15" nillable="true" ma:displayName="Culture Name" ma:internalName="CultureName">
      <xsd:simpleType>
        <xsd:restriction base="dms:Text"/>
      </xsd:simpleType>
    </xsd:element>
    <xsd:element name="AppVersion" ma:index="16" nillable="true" ma:displayName="App Version" ma:internalName="AppVersion">
      <xsd:simpleType>
        <xsd:restriction base="dms:Text"/>
      </xsd:simpleType>
    </xsd:element>
    <xsd:element name="TeamsChannelId" ma:index="17" nillable="true" ma:displayName="Teams Channel Id" ma:internalName="TeamsChannelId">
      <xsd:simpleType>
        <xsd:restriction base="dms:Text"/>
      </xsd:simpleType>
    </xsd:element>
    <xsd:element name="Owner" ma:index="18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9" nillable="true" ma:displayName="Math Settings" ma:internalName="Math_Settings">
      <xsd:simpleType>
        <xsd:restriction base="dms:Text"/>
      </xsd:simpleType>
    </xsd:element>
    <xsd:element name="DefaultSectionNames" ma:index="20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1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2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3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4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DateTaken" ma:index="3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3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36" nillable="true" ma:displayName="Tags" ma:internalName="MediaServiceAutoTags" ma:readOnly="true">
      <xsd:simpleType>
        <xsd:restriction base="dms:Text"/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41" nillable="true" ma:displayName="Length (seconds)" ma:internalName="MediaLengthInSeconds" ma:readOnly="true">
      <xsd:simpleType>
        <xsd:restriction base="dms:Unknown"/>
      </xsd:simpleType>
    </xsd:element>
    <xsd:element name="_activity" ma:index="42" nillable="true" ma:displayName="_activity" ma:hidden="true" ma:internalName="_activity">
      <xsd:simpleType>
        <xsd:restriction base="dms:Note"/>
      </xsd:simpleType>
    </xsd:element>
    <xsd:element name="MediaServiceObjectDetectorVersions" ma:index="4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4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56b5e-443d-4f0c-8996-56e9f4b8e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afeb4e6e-779d-466e-aa76-a28d9a9198ea" xsi:nil="true"/>
    <_activity xmlns="afeb4e6e-779d-466e-aa76-a28d9a9198ea" xsi:nil="true"/>
    <CultureName xmlns="afeb4e6e-779d-466e-aa76-a28d9a9198ea" xsi:nil="true"/>
    <Owner xmlns="afeb4e6e-779d-466e-aa76-a28d9a9198ea">
      <UserInfo>
        <DisplayName/>
        <AccountId xsi:nil="true"/>
        <AccountType/>
      </UserInfo>
    </Owner>
    <Students xmlns="afeb4e6e-779d-466e-aa76-a28d9a9198ea">
      <UserInfo>
        <DisplayName/>
        <AccountId xsi:nil="true"/>
        <AccountType/>
      </UserInfo>
    </Students>
    <Distribution_Groups xmlns="afeb4e6e-779d-466e-aa76-a28d9a9198ea" xsi:nil="true"/>
    <IsNotebookLocked xmlns="afeb4e6e-779d-466e-aa76-a28d9a9198ea" xsi:nil="true"/>
    <Has_Teacher_Only_SectionGroup xmlns="afeb4e6e-779d-466e-aa76-a28d9a9198ea" xsi:nil="true"/>
    <NotebookType xmlns="afeb4e6e-779d-466e-aa76-a28d9a9198ea" xsi:nil="true"/>
    <Invited_Teachers xmlns="afeb4e6e-779d-466e-aa76-a28d9a9198ea" xsi:nil="true"/>
    <AppVersion xmlns="afeb4e6e-779d-466e-aa76-a28d9a9198ea" xsi:nil="true"/>
    <Invited_Students xmlns="afeb4e6e-779d-466e-aa76-a28d9a9198ea" xsi:nil="true"/>
    <LMS_Mappings xmlns="afeb4e6e-779d-466e-aa76-a28d9a9198ea" xsi:nil="true"/>
    <DefaultSectionNames xmlns="afeb4e6e-779d-466e-aa76-a28d9a9198ea" xsi:nil="true"/>
    <Is_Collaboration_Space_Locked xmlns="afeb4e6e-779d-466e-aa76-a28d9a9198ea" xsi:nil="true"/>
    <Math_Settings xmlns="afeb4e6e-779d-466e-aa76-a28d9a9198ea" xsi:nil="true"/>
    <Self_Registration_Enabled xmlns="afeb4e6e-779d-466e-aa76-a28d9a9198ea" xsi:nil="true"/>
    <Templates xmlns="afeb4e6e-779d-466e-aa76-a28d9a9198ea" xsi:nil="true"/>
    <FolderType xmlns="afeb4e6e-779d-466e-aa76-a28d9a9198ea" xsi:nil="true"/>
    <Teachers xmlns="afeb4e6e-779d-466e-aa76-a28d9a9198ea">
      <UserInfo>
        <DisplayName/>
        <AccountId xsi:nil="true"/>
        <AccountType/>
      </UserInfo>
    </Teachers>
    <Student_Groups xmlns="afeb4e6e-779d-466e-aa76-a28d9a9198ea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060BDDF5-2488-4C57-9EE4-D2E7019E12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eb4e6e-779d-466e-aa76-a28d9a9198ea"/>
    <ds:schemaRef ds:uri="0a856b5e-443d-4f0c-8996-56e9f4b8e7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592B66-4D53-4842-AEF5-25AA15A0CF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6FA3D6-B89A-495C-8F34-32973585BD06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afeb4e6e-779d-466e-aa76-a28d9a9198ea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0a856b5e-443d-4f0c-8996-56e9f4b8e7c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2136</Words>
  <Application>Microsoft Office PowerPoint</Application>
  <PresentationFormat>Widescreen</PresentationFormat>
  <Paragraphs>286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Vanitha Santosh</dc:creator>
  <cp:lastModifiedBy>Amrita Chandorkar</cp:lastModifiedBy>
  <cp:revision>6</cp:revision>
  <dcterms:created xsi:type="dcterms:W3CDTF">2026-03-10T06:02:13Z</dcterms:created>
  <dcterms:modified xsi:type="dcterms:W3CDTF">2026-03-10T10:48:35Z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0x010100811726FC82D1AD4EBEFFC60FB9193DC2</vt:lpwstr>
  </property>
</Properties>
</file>